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Old Standard TT"/>
      <p:regular r:id="rId17"/>
      <p:bold r:id="rId18"/>
      <p: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ldStandardTT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ldStandardTT-italic.fntdata"/><Relationship Id="rId6" Type="http://schemas.openxmlformats.org/officeDocument/2006/relationships/slide" Target="slides/slide1.xml"/><Relationship Id="rId18" Type="http://schemas.openxmlformats.org/officeDocument/2006/relationships/font" Target="fonts/OldStandardTT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1a4424c22d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1a4424c22d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1a4424c22d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1a4424c22d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a4424c22d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1a4424c22d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1a4424c22d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1a4424c22d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1a4424c22d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1a4424c22d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1a49af0f25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1a49af0f25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a49af0f2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1a49af0f2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1a49af0f2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1a49af0f2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1a49af0f25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1a49af0f25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1a49af0f25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1a49af0f25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1a49af0f25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1a49af0f25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" name="Google Shape;12;p2"/>
          <p:cNvSpPr txBox="1"/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cap="flat" cmpd="sng" w="2857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3"/>
          <p:cNvSpPr txBox="1"/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perback">
    <p:bg>
      <p:bgPr>
        <a:solidFill>
          <a:schemeClr val="accen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gif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2700" y="1848375"/>
            <a:ext cx="8118600" cy="84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just">
              <a:lnSpc>
                <a:spcPct val="115000"/>
              </a:lnSpc>
              <a:spcBef>
                <a:spcPts val="2000"/>
              </a:spcBef>
              <a:spcAft>
                <a:spcPts val="0"/>
              </a:spcAft>
              <a:buClr>
                <a:schemeClr val="dk1"/>
              </a:buClr>
              <a:buSzPct val="55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" sz="5644"/>
              <a:t>Hospital privado: </a:t>
            </a:r>
            <a:endParaRPr sz="5644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3000">
                <a:solidFill>
                  <a:schemeClr val="accent1"/>
                </a:solidFill>
              </a:rPr>
              <a:t>Monitoreo de Pacientes y Respuesta en Emergencias</a:t>
            </a:r>
            <a:endParaRPr sz="300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NUESTRO OBJETIVO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Comic Sans MS"/>
                <a:ea typeface="Comic Sans MS"/>
                <a:cs typeface="Comic Sans MS"/>
                <a:sym typeface="Comic Sans MS"/>
              </a:rPr>
              <a:t>Esto no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67" name="Google Shape;67;p14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s">
                <a:latin typeface="Comic Sans MS"/>
                <a:ea typeface="Comic Sans MS"/>
                <a:cs typeface="Comic Sans MS"/>
                <a:sym typeface="Comic Sans MS"/>
              </a:rPr>
              <a:t>Esto sí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68" name="Google Shape;68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631710"/>
            <a:ext cx="3999900" cy="2937165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2400" y="1635184"/>
            <a:ext cx="3999901" cy="2933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593075" y="238550"/>
            <a:ext cx="78639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 sz="2700"/>
              <a:t>SITUACIÓN ACTUAL</a:t>
            </a:r>
            <a:endParaRPr i="1" sz="2700"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78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10"/>
              <a:buFont typeface="Comic Sans MS"/>
              <a:buChar char="●"/>
            </a:pPr>
            <a:r>
              <a:rPr lang="es" sz="1310">
                <a:latin typeface="Comic Sans MS"/>
                <a:ea typeface="Comic Sans MS"/>
                <a:cs typeface="Comic Sans MS"/>
                <a:sym typeface="Comic Sans MS"/>
              </a:rPr>
              <a:t>Monitoreo limitado a visitas físicas.</a:t>
            </a:r>
            <a:endParaRPr sz="131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31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178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10"/>
              <a:buFont typeface="Comic Sans MS"/>
              <a:buChar char="●"/>
            </a:pPr>
            <a:r>
              <a:rPr lang="es" sz="1310">
                <a:latin typeface="Comic Sans MS"/>
                <a:ea typeface="Comic Sans MS"/>
                <a:cs typeface="Comic Sans MS"/>
                <a:sym typeface="Comic Sans MS"/>
              </a:rPr>
              <a:t>Retrasos en la respuesta ante emergencias.</a:t>
            </a:r>
            <a:endParaRPr sz="131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31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178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10"/>
              <a:buFont typeface="Comic Sans MS"/>
              <a:buChar char="●"/>
            </a:pPr>
            <a:r>
              <a:rPr lang="es" sz="1310">
                <a:latin typeface="Comic Sans MS"/>
                <a:ea typeface="Comic Sans MS"/>
                <a:cs typeface="Comic Sans MS"/>
                <a:sym typeface="Comic Sans MS"/>
              </a:rPr>
              <a:t>Ineficiencia en el manejo de registros médicos.</a:t>
            </a:r>
            <a:endParaRPr sz="131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31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178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310"/>
              <a:buFont typeface="Comic Sans MS"/>
              <a:buChar char="●"/>
            </a:pPr>
            <a:r>
              <a:rPr lang="es" sz="1310">
                <a:latin typeface="Comic Sans MS"/>
                <a:ea typeface="Comic Sans MS"/>
                <a:cs typeface="Comic Sans MS"/>
                <a:sym typeface="Comic Sans MS"/>
              </a:rPr>
              <a:t>Preocupaciones de privacidad y volumen de datos generados.</a:t>
            </a:r>
            <a:endParaRPr sz="131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1018"/>
              <a:buNone/>
            </a:pPr>
            <a:r>
              <a:t/>
            </a:r>
            <a:endParaRPr sz="1110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8150" y="1145150"/>
            <a:ext cx="4285801" cy="348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NUESTROS OBJETIVOS</a:t>
            </a:r>
            <a:endParaRPr i="1"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66666"/>
              <a:buFont typeface="Comic Sans MS"/>
              <a:buChar char="●"/>
            </a:pPr>
            <a:r>
              <a:rPr lang="es" sz="2100">
                <a:latin typeface="Comic Sans MS"/>
                <a:ea typeface="Comic Sans MS"/>
                <a:cs typeface="Comic Sans MS"/>
                <a:sym typeface="Comic Sans MS"/>
              </a:rPr>
              <a:t>Reducir la carga operativa del personal médico.</a:t>
            </a:r>
            <a:endParaRPr sz="21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66666"/>
              <a:buFont typeface="Comic Sans MS"/>
              <a:buChar char="●"/>
            </a:pPr>
            <a:r>
              <a:rPr lang="es" sz="2100">
                <a:latin typeface="Comic Sans MS"/>
                <a:ea typeface="Comic Sans MS"/>
                <a:cs typeface="Comic Sans MS"/>
                <a:sym typeface="Comic Sans MS"/>
              </a:rPr>
              <a:t>Mejorar la capacidad de respuesta ante emergencias.</a:t>
            </a:r>
            <a:endParaRPr sz="21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66666"/>
              <a:buFont typeface="Comic Sans MS"/>
              <a:buChar char="●"/>
            </a:pPr>
            <a:r>
              <a:rPr lang="es" sz="2100">
                <a:latin typeface="Comic Sans MS"/>
                <a:ea typeface="Comic Sans MS"/>
                <a:cs typeface="Comic Sans MS"/>
                <a:sym typeface="Comic Sans MS"/>
              </a:rPr>
              <a:t>Optimizar el manejo y análisis de datos médicos.</a:t>
            </a:r>
            <a:endParaRPr sz="21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1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04165" lvl="0" marL="457200" rtl="0" algn="l">
              <a:spcBef>
                <a:spcPts val="1200"/>
              </a:spcBef>
              <a:spcAft>
                <a:spcPts val="0"/>
              </a:spcAft>
              <a:buSzPct val="66666"/>
              <a:buFont typeface="Comic Sans MS"/>
              <a:buChar char="●"/>
            </a:pPr>
            <a:r>
              <a:rPr lang="es" sz="2100">
                <a:latin typeface="Comic Sans MS"/>
                <a:ea typeface="Comic Sans MS"/>
                <a:cs typeface="Comic Sans MS"/>
                <a:sym typeface="Comic Sans MS"/>
              </a:rPr>
              <a:t>Garantizar la privacidad y seguridad de la información.</a:t>
            </a:r>
            <a:endParaRPr sz="2100"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TECNOLOGÍAS PROPUESTAS</a:t>
            </a:r>
            <a:endParaRPr i="1"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7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1675"/>
            <a:ext cx="3999899" cy="33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32400" y="1171675"/>
            <a:ext cx="4047775" cy="339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8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ARQUITECTURA DE LA SOLUCIÓN</a:t>
            </a:r>
            <a:endParaRPr i="1"/>
          </a:p>
        </p:txBody>
      </p:sp>
      <p:sp>
        <p:nvSpPr>
          <p:cNvPr id="97" name="Google Shape;97;p18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8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67600"/>
            <a:ext cx="3999900" cy="339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4050" y="1171675"/>
            <a:ext cx="3999900" cy="339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IMPLEMENTACIÓN (Gráfica de Gantt)</a:t>
            </a:r>
            <a:endParaRPr i="1"/>
          </a:p>
        </p:txBody>
      </p:sp>
      <p:sp>
        <p:nvSpPr>
          <p:cNvPr id="106" name="Google Shape;106;p19"/>
          <p:cNvSpPr txBox="1"/>
          <p:nvPr>
            <p:ph idx="1" type="body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7" name="Google Shape;10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171600"/>
            <a:ext cx="8520601" cy="3397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CONCLUSIONES</a:t>
            </a:r>
            <a:endParaRPr i="1"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Comic Sans MS"/>
              <a:buChar char="●"/>
            </a:pPr>
            <a:r>
              <a:rPr lang="es">
                <a:latin typeface="Comic Sans MS"/>
                <a:ea typeface="Comic Sans MS"/>
                <a:cs typeface="Comic Sans MS"/>
                <a:sym typeface="Comic Sans MS"/>
              </a:rPr>
              <a:t>Mejor atención médica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Comic Sans MS"/>
              <a:buChar char="●"/>
            </a:pPr>
            <a:r>
              <a:rPr lang="es">
                <a:latin typeface="Comic Sans MS"/>
                <a:ea typeface="Comic Sans MS"/>
                <a:cs typeface="Comic Sans MS"/>
                <a:sym typeface="Comic Sans MS"/>
              </a:rPr>
              <a:t>Optimización de recursos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Comic Sans MS"/>
              <a:buChar char="●"/>
            </a:pPr>
            <a:r>
              <a:rPr lang="es">
                <a:latin typeface="Comic Sans MS"/>
                <a:ea typeface="Comic Sans MS"/>
                <a:cs typeface="Comic Sans MS"/>
                <a:sym typeface="Comic Sans MS"/>
              </a:rPr>
              <a:t>Mayor seguridad y eficiencia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Comic Sans MS"/>
              <a:buChar char="●"/>
            </a:pPr>
            <a:r>
              <a:rPr lang="es">
                <a:latin typeface="Comic Sans MS"/>
                <a:ea typeface="Comic Sans MS"/>
                <a:cs typeface="Comic Sans MS"/>
                <a:sym typeface="Comic Sans MS"/>
              </a:rPr>
              <a:t>Impacto económico positivo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Font typeface="Comic Sans MS"/>
              <a:buChar char="●"/>
            </a:pPr>
            <a:r>
              <a:rPr lang="es">
                <a:latin typeface="Comic Sans MS"/>
                <a:ea typeface="Comic Sans MS"/>
                <a:cs typeface="Comic Sans MS"/>
                <a:sym typeface="Comic Sans MS"/>
              </a:rPr>
              <a:t>Innovación estratégica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sp>
        <p:nvSpPr>
          <p:cNvPr id="114" name="Google Shape;114;p20"/>
          <p:cNvSpPr txBox="1"/>
          <p:nvPr>
            <p:ph idx="2" type="body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1"/>
          <p:cNvSpPr txBox="1"/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s"/>
              <a:t>BENEFICIOS ESPERADOS</a:t>
            </a:r>
            <a:endParaRPr i="1"/>
          </a:p>
        </p:txBody>
      </p:sp>
      <p:sp>
        <p:nvSpPr>
          <p:cNvPr id="120" name="Google Shape;120;p21"/>
          <p:cNvSpPr txBox="1"/>
          <p:nvPr>
            <p:ph idx="1" type="body"/>
          </p:nvPr>
        </p:nvSpPr>
        <p:spPr>
          <a:xfrm>
            <a:off x="311700" y="1195075"/>
            <a:ext cx="8520600" cy="33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i="1" lang="es">
                <a:latin typeface="Comic Sans MS"/>
                <a:ea typeface="Comic Sans MS"/>
                <a:cs typeface="Comic Sans MS"/>
                <a:sym typeface="Comic Sans MS"/>
              </a:rPr>
              <a:t>“Our business is life itself”</a:t>
            </a:r>
            <a:endParaRPr i="1">
              <a:latin typeface="Comic Sans MS"/>
              <a:ea typeface="Comic Sans MS"/>
              <a:cs typeface="Comic Sans MS"/>
              <a:sym typeface="Comic Sans MS"/>
            </a:endParaRPr>
          </a:p>
        </p:txBody>
      </p:sp>
      <p:pic>
        <p:nvPicPr>
          <p:cNvPr id="121" name="Google Shape;12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4450" y="1672225"/>
            <a:ext cx="6846275" cy="3076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2"/>
          <p:cNvSpPr txBox="1"/>
          <p:nvPr>
            <p:ph type="title"/>
          </p:nvPr>
        </p:nvSpPr>
        <p:spPr>
          <a:xfrm>
            <a:off x="311700" y="1824875"/>
            <a:ext cx="8520600" cy="82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mic Sans MS"/>
                <a:ea typeface="Comic Sans MS"/>
                <a:cs typeface="Comic Sans MS"/>
                <a:sym typeface="Comic Sans MS"/>
              </a:rPr>
              <a:t>Gracias por </a:t>
            </a:r>
            <a:r>
              <a:rPr lang="es">
                <a:latin typeface="Comic Sans MS"/>
                <a:ea typeface="Comic Sans MS"/>
                <a:cs typeface="Comic Sans MS"/>
                <a:sym typeface="Comic Sans MS"/>
              </a:rPr>
              <a:t>vuestra</a:t>
            </a:r>
            <a:r>
              <a:rPr lang="es">
                <a:latin typeface="Comic Sans MS"/>
                <a:ea typeface="Comic Sans MS"/>
                <a:cs typeface="Comic Sans MS"/>
                <a:sym typeface="Comic Sans MS"/>
              </a:rPr>
              <a:t> atención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Comic Sans MS"/>
                <a:ea typeface="Comic Sans MS"/>
                <a:cs typeface="Comic Sans MS"/>
                <a:sym typeface="Comic Sans MS"/>
              </a:rPr>
              <a:t>y para acabar…</a:t>
            </a:r>
            <a:endParaRPr>
              <a:latin typeface="Comic Sans MS"/>
              <a:ea typeface="Comic Sans MS"/>
              <a:cs typeface="Comic Sans MS"/>
              <a:sym typeface="Comic Sans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d goes up, bed goes down - The Simpsons (proporcionado por Tenor)" id="131" name="Google Shape;13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850" y="721025"/>
            <a:ext cx="7316000" cy="385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