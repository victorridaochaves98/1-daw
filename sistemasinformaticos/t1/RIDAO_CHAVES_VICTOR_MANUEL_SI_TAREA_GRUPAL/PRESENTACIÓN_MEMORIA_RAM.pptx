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Roboto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Roboto-italic.fntdata"/><Relationship Id="rId6" Type="http://schemas.openxmlformats.org/officeDocument/2006/relationships/slide" Target="slides/slide2.xml"/><Relationship Id="rId18" Type="http://schemas.openxmlformats.org/officeDocument/2006/relationships/font" Target="fonts/Robot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1d06563245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1d06563245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1d06563245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1d06563245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1d06563245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1d06563245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1d06563245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1d06563245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1d06563245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1d06563245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1d06563245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1d06563245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1d06563245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1d06563245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1d06563245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1d06563245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1d06563245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1d06563245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1d06563245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1d06563245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1d06563245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1d06563245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www.youtube.com/watch?v=Gw-rUCwLoQ0" TargetMode="External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94DC3"/>
            </a:gs>
            <a:gs pos="100000">
              <a:srgbClr val="20285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460950" y="31907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/>
              <a:t>Memoria RAM</a:t>
            </a:r>
            <a:endParaRPr b="1" i="1"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460950" y="1472600"/>
            <a:ext cx="8222100" cy="33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951" y="1472600"/>
            <a:ext cx="8222098" cy="3382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94DC3"/>
            </a:gs>
            <a:gs pos="100000">
              <a:srgbClr val="20285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ctrTitle"/>
          </p:nvPr>
        </p:nvSpPr>
        <p:spPr>
          <a:xfrm>
            <a:off x="598100" y="298278"/>
            <a:ext cx="8222100" cy="92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/>
              <a:t>Índice</a:t>
            </a:r>
            <a:endParaRPr b="1" i="1"/>
          </a:p>
        </p:txBody>
      </p:sp>
      <p:sp>
        <p:nvSpPr>
          <p:cNvPr id="93" name="Google Shape;93;p14"/>
          <p:cNvSpPr txBox="1"/>
          <p:nvPr>
            <p:ph idx="1" type="subTitle"/>
          </p:nvPr>
        </p:nvSpPr>
        <p:spPr>
          <a:xfrm>
            <a:off x="598100" y="1225934"/>
            <a:ext cx="8222100" cy="36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i="1" lang="es"/>
              <a:t>¿Qué es la memoria RAM? </a:t>
            </a:r>
            <a:endParaRPr b="1" i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i="1" lang="es"/>
              <a:t>Características.</a:t>
            </a:r>
            <a:endParaRPr b="1" i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i="1" lang="es"/>
              <a:t>Ventajas y desventajas.</a:t>
            </a:r>
            <a:endParaRPr b="1" i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i="1" lang="es"/>
              <a:t>Precios.</a:t>
            </a:r>
            <a:endParaRPr b="1" i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i="1" lang="es"/>
              <a:t>Curiosidades. </a:t>
            </a:r>
            <a:endParaRPr b="1" i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94DC3"/>
            </a:gs>
            <a:gs pos="100000">
              <a:srgbClr val="20285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ctrTitle"/>
          </p:nvPr>
        </p:nvSpPr>
        <p:spPr>
          <a:xfrm>
            <a:off x="598100" y="204328"/>
            <a:ext cx="8222100" cy="92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/>
              <a:t>¿Qué es la memoria RAM?</a:t>
            </a:r>
            <a:endParaRPr b="1" i="1"/>
          </a:p>
        </p:txBody>
      </p:sp>
      <p:sp>
        <p:nvSpPr>
          <p:cNvPr id="99" name="Google Shape;99;p15"/>
          <p:cNvSpPr txBox="1"/>
          <p:nvPr>
            <p:ph idx="1" type="subTitle"/>
          </p:nvPr>
        </p:nvSpPr>
        <p:spPr>
          <a:xfrm>
            <a:off x="598100" y="1214300"/>
            <a:ext cx="2668800" cy="36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s"/>
              <a:t>Alta velocidad.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s"/>
              <a:t>Temporal.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s"/>
              <a:t>Volátil.</a:t>
            </a:r>
            <a:endParaRPr/>
          </a:p>
        </p:txBody>
      </p:sp>
      <p:pic>
        <p:nvPicPr>
          <p:cNvPr descr="Ram Computer Images | Free Photos, PNG Stickers, Wallpapers ..." id="100" name="Google Shape;10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7850" y="1284325"/>
            <a:ext cx="5583750" cy="3605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94DC3"/>
            </a:gs>
            <a:gs pos="100000">
              <a:srgbClr val="20285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ctrTitle"/>
          </p:nvPr>
        </p:nvSpPr>
        <p:spPr>
          <a:xfrm>
            <a:off x="598100" y="204328"/>
            <a:ext cx="8222100" cy="84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/>
              <a:t>Historia y evolución</a:t>
            </a:r>
            <a:endParaRPr b="1" i="1"/>
          </a:p>
        </p:txBody>
      </p:sp>
      <p:sp>
        <p:nvSpPr>
          <p:cNvPr id="106" name="Google Shape;106;p16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					</a:t>
            </a:r>
            <a:endParaRPr/>
          </a:p>
        </p:txBody>
      </p:sp>
      <p:pic>
        <p:nvPicPr>
          <p:cNvPr id="107" name="Google Shape;10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143775"/>
            <a:ext cx="8229600" cy="38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94DC3"/>
            </a:gs>
            <a:gs pos="100000">
              <a:srgbClr val="20285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ctrTitle"/>
          </p:nvPr>
        </p:nvSpPr>
        <p:spPr>
          <a:xfrm>
            <a:off x="598100" y="298278"/>
            <a:ext cx="8222100" cy="92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/>
              <a:t>Características</a:t>
            </a:r>
            <a:endParaRPr b="1" i="1"/>
          </a:p>
        </p:txBody>
      </p:sp>
      <p:sp>
        <p:nvSpPr>
          <p:cNvPr id="113" name="Google Shape;113;p17"/>
          <p:cNvSpPr txBox="1"/>
          <p:nvPr>
            <p:ph idx="1" type="subTitle"/>
          </p:nvPr>
        </p:nvSpPr>
        <p:spPr>
          <a:xfrm>
            <a:off x="598100" y="1225932"/>
            <a:ext cx="8222100" cy="3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b="1" i="1" lang="es">
                <a:latin typeface="Arial"/>
                <a:ea typeface="Arial"/>
                <a:cs typeface="Arial"/>
                <a:sym typeface="Arial"/>
              </a:rPr>
              <a:t>Capacidad y velocidad.</a:t>
            </a:r>
            <a:endParaRPr b="1" i="1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b="1" i="1" lang="es">
                <a:latin typeface="Arial"/>
                <a:ea typeface="Arial"/>
                <a:cs typeface="Arial"/>
                <a:sym typeface="Arial"/>
              </a:rPr>
              <a:t>Tamaños.</a:t>
            </a:r>
            <a:endParaRPr b="1" i="1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b="1" i="1" lang="es">
                <a:latin typeface="Arial"/>
                <a:ea typeface="Arial"/>
                <a:cs typeface="Arial"/>
                <a:sym typeface="Arial"/>
              </a:rPr>
              <a:t>Materiales empleados.</a:t>
            </a:r>
            <a:endParaRPr b="1" i="1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b="1" i="1" lang="es">
                <a:latin typeface="Arial"/>
                <a:ea typeface="Arial"/>
                <a:cs typeface="Arial"/>
                <a:sym typeface="Arial"/>
              </a:rPr>
              <a:t>Tipos de memoria RAM.</a:t>
            </a:r>
            <a:endParaRPr b="1" i="1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b="1" i="1" lang="es">
                <a:latin typeface="Arial"/>
                <a:ea typeface="Arial"/>
                <a:cs typeface="Arial"/>
                <a:sym typeface="Arial"/>
              </a:rPr>
              <a:t>Complementación.</a:t>
            </a:r>
            <a:endParaRPr b="1" i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94DC3"/>
            </a:gs>
            <a:gs pos="100000">
              <a:srgbClr val="20285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ctrTitle"/>
          </p:nvPr>
        </p:nvSpPr>
        <p:spPr>
          <a:xfrm>
            <a:off x="598100" y="274803"/>
            <a:ext cx="8222100" cy="86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/>
              <a:t>Capacidad y velocidad</a:t>
            </a:r>
            <a:endParaRPr b="1" i="1"/>
          </a:p>
        </p:txBody>
      </p:sp>
      <p:sp>
        <p:nvSpPr>
          <p:cNvPr id="119" name="Google Shape;119;p18"/>
          <p:cNvSpPr txBox="1"/>
          <p:nvPr>
            <p:ph idx="1" type="subTitle"/>
          </p:nvPr>
        </p:nvSpPr>
        <p:spPr>
          <a:xfrm>
            <a:off x="598100" y="1273008"/>
            <a:ext cx="8222100" cy="3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							</a:t>
            </a:r>
            <a:endParaRPr/>
          </a:p>
        </p:txBody>
      </p:sp>
      <p:pic>
        <p:nvPicPr>
          <p:cNvPr id="120" name="Google Shape;12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100" y="1531300"/>
            <a:ext cx="1737050" cy="174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3400" y="1531300"/>
            <a:ext cx="1913762" cy="174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5400" y="1531300"/>
            <a:ext cx="2634800" cy="174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94DC3"/>
            </a:gs>
            <a:gs pos="100000">
              <a:srgbClr val="20285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265500" y="430625"/>
            <a:ext cx="4045200" cy="8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>
                <a:solidFill>
                  <a:schemeClr val="lt1"/>
                </a:solidFill>
              </a:rPr>
              <a:t>Tamaños</a:t>
            </a:r>
            <a:endParaRPr b="1" i="1">
              <a:solidFill>
                <a:schemeClr val="lt1"/>
              </a:solidFill>
            </a:endParaRPr>
          </a:p>
        </p:txBody>
      </p:sp>
      <p:sp>
        <p:nvSpPr>
          <p:cNvPr id="128" name="Google Shape;128;p19"/>
          <p:cNvSpPr txBox="1"/>
          <p:nvPr>
            <p:ph idx="1" type="subTitle"/>
          </p:nvPr>
        </p:nvSpPr>
        <p:spPr>
          <a:xfrm>
            <a:off x="265500" y="1414025"/>
            <a:ext cx="4045200" cy="341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b="1" i="1" lang="es">
                <a:solidFill>
                  <a:schemeClr val="lt1"/>
                </a:solidFill>
              </a:rPr>
              <a:t>Se mide en gigabytes.</a:t>
            </a:r>
            <a:endParaRPr b="1" i="1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chemeClr val="lt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b="1" i="1" lang="es">
                <a:solidFill>
                  <a:schemeClr val="lt1"/>
                </a:solidFill>
              </a:rPr>
              <a:t>Más RAM mejor rendimiento.</a:t>
            </a:r>
            <a:endParaRPr b="1" i="1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chemeClr val="lt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b="1" i="1" lang="es">
                <a:solidFill>
                  <a:schemeClr val="lt1"/>
                </a:solidFill>
              </a:rPr>
              <a:t>Clasificado en:</a:t>
            </a:r>
            <a:endParaRPr b="1" i="1">
              <a:solidFill>
                <a:schemeClr val="lt1"/>
              </a:solidFill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○"/>
            </a:pPr>
            <a:r>
              <a:rPr b="1" i="1" lang="es">
                <a:solidFill>
                  <a:schemeClr val="lt1"/>
                </a:solidFill>
              </a:rPr>
              <a:t>4 gb: tareas sencillas.</a:t>
            </a:r>
            <a:endParaRPr b="1" i="1">
              <a:solidFill>
                <a:schemeClr val="lt1"/>
              </a:solidFill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○"/>
            </a:pPr>
            <a:r>
              <a:rPr b="1" i="1" lang="es">
                <a:solidFill>
                  <a:schemeClr val="lt1"/>
                </a:solidFill>
              </a:rPr>
              <a:t>8 gb: juegos y tareas.</a:t>
            </a:r>
            <a:endParaRPr b="1" i="1">
              <a:solidFill>
                <a:schemeClr val="lt1"/>
              </a:solidFill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○"/>
            </a:pPr>
            <a:r>
              <a:rPr b="1" i="1" lang="es">
                <a:solidFill>
                  <a:schemeClr val="lt1"/>
                </a:solidFill>
              </a:rPr>
              <a:t>16 gb: juegos exigentes.</a:t>
            </a:r>
            <a:endParaRPr b="1" i="1">
              <a:solidFill>
                <a:schemeClr val="lt1"/>
              </a:solidFill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○"/>
            </a:pPr>
            <a:r>
              <a:rPr b="1" i="1" lang="es">
                <a:solidFill>
                  <a:schemeClr val="lt1"/>
                </a:solidFill>
              </a:rPr>
              <a:t>32 gb: profesionales.</a:t>
            </a:r>
            <a:endParaRPr b="1" i="1">
              <a:solidFill>
                <a:schemeClr val="lt1"/>
              </a:solidFill>
            </a:endParaRPr>
          </a:p>
        </p:txBody>
      </p:sp>
      <p:sp>
        <p:nvSpPr>
          <p:cNvPr id="129" name="Google Shape;129;p19"/>
          <p:cNvSpPr txBox="1"/>
          <p:nvPr>
            <p:ph idx="2" type="body"/>
          </p:nvPr>
        </p:nvSpPr>
        <p:spPr>
          <a:xfrm>
            <a:off x="4939500" y="430625"/>
            <a:ext cx="3837000" cy="440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4200"/>
              <a:t>Materiales</a:t>
            </a:r>
            <a:endParaRPr b="1" i="1" sz="4200"/>
          </a:p>
          <a:p>
            <a:pPr indent="-35194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i="1" lang="es" sz="2100"/>
              <a:t>Silicio.</a:t>
            </a:r>
            <a:endParaRPr b="1" i="1" sz="2100"/>
          </a:p>
          <a:p>
            <a:pPr indent="-35194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1" lang="es" sz="2100"/>
              <a:t>Aluminio y cobre.</a:t>
            </a:r>
            <a:endParaRPr b="1" i="1" sz="2100"/>
          </a:p>
          <a:p>
            <a:pPr indent="-35194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1" lang="es" sz="2100"/>
              <a:t>Plásticos y polímeros.</a:t>
            </a:r>
            <a:endParaRPr b="1" i="1" sz="2100"/>
          </a:p>
          <a:p>
            <a:pPr indent="-35194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1" lang="es" sz="2100"/>
              <a:t>Vidrio, estaño y oro.</a:t>
            </a:r>
            <a:endParaRPr b="1" i="1"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4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4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i="1" sz="4200"/>
          </a:p>
        </p:txBody>
      </p:sp>
      <p:pic>
        <p:nvPicPr>
          <p:cNvPr id="130" name="Google Shape;13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2075" y="2682175"/>
            <a:ext cx="2896900" cy="204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94DC3"/>
            </a:gs>
            <a:gs pos="100000">
              <a:srgbClr val="20285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ctrTitle"/>
          </p:nvPr>
        </p:nvSpPr>
        <p:spPr>
          <a:xfrm>
            <a:off x="598100" y="321753"/>
            <a:ext cx="8222100" cy="95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/>
              <a:t>Tipos de memoria RAM</a:t>
            </a:r>
            <a:endParaRPr b="1" i="1"/>
          </a:p>
        </p:txBody>
      </p:sp>
      <p:sp>
        <p:nvSpPr>
          <p:cNvPr id="136" name="Google Shape;136;p20"/>
          <p:cNvSpPr txBox="1"/>
          <p:nvPr>
            <p:ph idx="1" type="subTitle"/>
          </p:nvPr>
        </p:nvSpPr>
        <p:spPr>
          <a:xfrm>
            <a:off x="598100" y="1425639"/>
            <a:ext cx="8222100" cy="34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100" y="1425650"/>
            <a:ext cx="8222101" cy="34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94DC3"/>
            </a:gs>
            <a:gs pos="100000">
              <a:srgbClr val="20285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type="ctrTitle"/>
          </p:nvPr>
        </p:nvSpPr>
        <p:spPr>
          <a:xfrm>
            <a:off x="598100" y="345253"/>
            <a:ext cx="8222100" cy="92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/>
              <a:t>Complementación</a:t>
            </a:r>
            <a:endParaRPr b="1" i="1"/>
          </a:p>
        </p:txBody>
      </p:sp>
      <p:sp>
        <p:nvSpPr>
          <p:cNvPr id="143" name="Google Shape;143;p21"/>
          <p:cNvSpPr txBox="1"/>
          <p:nvPr>
            <p:ph idx="1" type="subTitle"/>
          </p:nvPr>
        </p:nvSpPr>
        <p:spPr>
          <a:xfrm>
            <a:off x="598100" y="1378663"/>
            <a:ext cx="8222100" cy="34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/>
              <a:t>Combina una serie de complementos.</a:t>
            </a:r>
            <a:endParaRPr b="1"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b="1" i="1" lang="es"/>
              <a:t>Memoria caché.</a:t>
            </a:r>
            <a:endParaRPr b="1" i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b="1" i="1" lang="es"/>
              <a:t>Dual channel y multichannel.</a:t>
            </a:r>
            <a:endParaRPr b="1" i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b="1" i="1" lang="es"/>
              <a:t>Overclocking.</a:t>
            </a:r>
            <a:endParaRPr b="1" i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b="1" i="1" lang="es"/>
              <a:t>ECC RAM.</a:t>
            </a:r>
            <a:endParaRPr b="1" i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b="1" i="1" lang="es"/>
              <a:t>Memoria virtual.</a:t>
            </a:r>
            <a:endParaRPr b="1" i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title"/>
          </p:nvPr>
        </p:nvSpPr>
        <p:spPr>
          <a:xfrm>
            <a:off x="265500" y="298275"/>
            <a:ext cx="8511000" cy="82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3800">
                <a:solidFill>
                  <a:schemeClr val="lt1"/>
                </a:solidFill>
              </a:rPr>
              <a:t>Ventajas						Desventajas</a:t>
            </a:r>
            <a:endParaRPr b="1" i="1" sz="3800">
              <a:solidFill>
                <a:schemeClr val="lt1"/>
              </a:solidFill>
            </a:endParaRPr>
          </a:p>
        </p:txBody>
      </p:sp>
      <p:sp>
        <p:nvSpPr>
          <p:cNvPr id="149" name="Google Shape;149;p22"/>
          <p:cNvSpPr txBox="1"/>
          <p:nvPr>
            <p:ph idx="1" type="subTitle"/>
          </p:nvPr>
        </p:nvSpPr>
        <p:spPr>
          <a:xfrm>
            <a:off x="265500" y="1179000"/>
            <a:ext cx="4045200" cy="37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AutoNum type="arabicPeriod"/>
            </a:pPr>
            <a:r>
              <a:rPr lang="es">
                <a:solidFill>
                  <a:schemeClr val="lt1"/>
                </a:solidFill>
              </a:rPr>
              <a:t>Velocidad de acceso rápida.</a:t>
            </a:r>
            <a:endParaRPr>
              <a:solidFill>
                <a:schemeClr val="lt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AutoNum type="arabicPeriod"/>
            </a:pPr>
            <a:r>
              <a:rPr lang="es">
                <a:solidFill>
                  <a:schemeClr val="lt1"/>
                </a:solidFill>
              </a:rPr>
              <a:t>Multitarea eficiente.</a:t>
            </a:r>
            <a:endParaRPr>
              <a:solidFill>
                <a:schemeClr val="lt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AutoNum type="arabicPeriod"/>
            </a:pPr>
            <a:r>
              <a:rPr lang="es">
                <a:solidFill>
                  <a:schemeClr val="lt1"/>
                </a:solidFill>
              </a:rPr>
              <a:t>Almacenamiento temporal.</a:t>
            </a:r>
            <a:endParaRPr>
              <a:solidFill>
                <a:schemeClr val="lt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AutoNum type="arabicPeriod"/>
            </a:pPr>
            <a:r>
              <a:rPr lang="es">
                <a:solidFill>
                  <a:schemeClr val="lt1"/>
                </a:solidFill>
              </a:rPr>
              <a:t>Impacto en rendimiento.</a:t>
            </a:r>
            <a:endParaRPr>
              <a:solidFill>
                <a:schemeClr val="lt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AutoNum type="arabicPeriod"/>
            </a:pPr>
            <a:r>
              <a:rPr lang="es">
                <a:solidFill>
                  <a:schemeClr val="lt1"/>
                </a:solidFill>
              </a:rPr>
              <a:t>Actualización posible.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0" name="Google Shape;150;p22"/>
          <p:cNvSpPr txBox="1"/>
          <p:nvPr>
            <p:ph idx="2" type="body"/>
          </p:nvPr>
        </p:nvSpPr>
        <p:spPr>
          <a:xfrm>
            <a:off x="4939500" y="1448925"/>
            <a:ext cx="3837000" cy="169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s" sz="2100"/>
              <a:t>Volátil.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s" sz="2100"/>
              <a:t>Costo por Gigabyte.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s" sz="2100"/>
              <a:t>Limitación de capacidad.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s" sz="2100"/>
              <a:t>Compatibilidad.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s" sz="2100"/>
              <a:t>Obsolescencia tecnológica.</a:t>
            </a:r>
            <a:endParaRPr sz="2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94DC3"/>
            </a:gs>
            <a:gs pos="100000">
              <a:srgbClr val="20285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type="ctrTitle"/>
          </p:nvPr>
        </p:nvSpPr>
        <p:spPr>
          <a:xfrm>
            <a:off x="598100" y="333503"/>
            <a:ext cx="8222100" cy="90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/>
              <a:t>Precios en el mercado</a:t>
            </a:r>
            <a:endParaRPr b="1" i="1"/>
          </a:p>
        </p:txBody>
      </p:sp>
      <p:sp>
        <p:nvSpPr>
          <p:cNvPr id="156" name="Google Shape;156;p23"/>
          <p:cNvSpPr txBox="1"/>
          <p:nvPr>
            <p:ph idx="1" type="subTitle"/>
          </p:nvPr>
        </p:nvSpPr>
        <p:spPr>
          <a:xfrm>
            <a:off x="598100" y="1601794"/>
            <a:ext cx="8222100" cy="31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100" y="1601800"/>
            <a:ext cx="8222101" cy="317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94DC3"/>
            </a:gs>
            <a:gs pos="100000">
              <a:srgbClr val="20285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>
            <p:ph type="ctrTitle"/>
          </p:nvPr>
        </p:nvSpPr>
        <p:spPr>
          <a:xfrm>
            <a:off x="598100" y="380478"/>
            <a:ext cx="8222100" cy="95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/>
              <a:t>Curiosidades</a:t>
            </a:r>
            <a:endParaRPr b="1" i="1"/>
          </a:p>
        </p:txBody>
      </p:sp>
      <p:sp>
        <p:nvSpPr>
          <p:cNvPr id="163" name="Google Shape;163;p24"/>
          <p:cNvSpPr txBox="1"/>
          <p:nvPr>
            <p:ph idx="1" type="subTitle"/>
          </p:nvPr>
        </p:nvSpPr>
        <p:spPr>
          <a:xfrm>
            <a:off x="598100" y="1402139"/>
            <a:ext cx="8222100" cy="33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DR2 takes 12V... right? Check out my webpage all about electronics: http://www.afrotechmods.com" id="164" name="Google Shape;164;p24" title="RAM overclocking failure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100" y="1402150"/>
            <a:ext cx="8222100" cy="337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